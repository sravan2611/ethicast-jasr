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374" r:id="rId2"/>
    <p:sldId id="375" r:id="rId3"/>
    <p:sldId id="257" r:id="rId4"/>
    <p:sldId id="376" r:id="rId5"/>
    <p:sldId id="377" r:id="rId6"/>
    <p:sldId id="378" r:id="rId7"/>
    <p:sldId id="379" r:id="rId8"/>
    <p:sldId id="380" r:id="rId9"/>
    <p:sldId id="382" r:id="rId10"/>
    <p:sldId id="38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1" autoAdjust="0"/>
    <p:restoredTop sz="94660"/>
  </p:normalViewPr>
  <p:slideViewPr>
    <p:cSldViewPr snapToGrid="0">
      <p:cViewPr varScale="1">
        <p:scale>
          <a:sx n="82" d="100"/>
          <a:sy n="82" d="100"/>
        </p:scale>
        <p:origin x="4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08953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40032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RAVAN2611/EthiCast-JASR"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614772" y="2459504"/>
            <a:ext cx="5132436" cy="3908762"/>
          </a:xfrm>
          <a:prstGeom prst="rect">
            <a:avLst/>
          </a:prstGeom>
          <a:noFill/>
        </p:spPr>
        <p:txBody>
          <a:bodyPr wrap="square">
            <a:spAutoFit/>
          </a:bodyPr>
          <a:lstStyle/>
          <a:p>
            <a:pPr algn="ctr"/>
            <a:r>
              <a:rPr lang="en-US" sz="2400" b="1" dirty="0">
                <a:solidFill>
                  <a:srgbClr val="E81B25"/>
                </a:solidFill>
                <a:latin typeface="Berlin Sans FB Demi" panose="020E0802020502020306" pitchFamily="34" charset="0"/>
                <a:ea typeface="SamsungOne 800" panose="020B0903030303020204" pitchFamily="34" charset="0"/>
              </a:rPr>
              <a:t>&lt;MS Ramaiah Institute of Technology&gt;_&lt;JASR&gt;</a:t>
            </a:r>
          </a:p>
          <a:p>
            <a:pPr algn="ctr"/>
            <a:r>
              <a:rPr lang="en-US" sz="2400" b="1" dirty="0">
                <a:solidFill>
                  <a:srgbClr val="E81B25"/>
                </a:solidFill>
                <a:latin typeface="Berlin Sans FB Demi" panose="020E0802020502020306" pitchFamily="34" charset="0"/>
                <a:ea typeface="SamsungOne 800" panose="020B0903030303020204" pitchFamily="34" charset="0"/>
              </a:rPr>
              <a:t>&lt;GenAI based Deepfake Video Generation&gt;</a:t>
            </a:r>
          </a:p>
          <a:p>
            <a:pPr algn="ctr"/>
            <a:endParaRPr lang="en-US" sz="2400" b="1" dirty="0">
              <a:solidFill>
                <a:srgbClr val="E81B25"/>
              </a:solidFill>
              <a:latin typeface="Berlin Sans FB Demi" panose="020E0802020502020306" pitchFamily="34" charset="0"/>
              <a:ea typeface="SamsungOne 800" panose="020B0903030303020204" pitchFamily="34" charset="0"/>
            </a:endParaRPr>
          </a:p>
          <a:p>
            <a:pPr algn="ctr"/>
            <a:r>
              <a:rPr lang="en-US" sz="2400" b="1" dirty="0">
                <a:solidFill>
                  <a:srgbClr val="E81B25"/>
                </a:solidFill>
                <a:latin typeface="Berlin Sans FB Demi" panose="020E0802020502020306" pitchFamily="34" charset="0"/>
                <a:ea typeface="SamsungOne 800" panose="020B0903030303020204" pitchFamily="34" charset="0"/>
              </a:rPr>
              <a:t>V SRAVAN REDDY</a:t>
            </a:r>
          </a:p>
          <a:p>
            <a:pPr algn="ctr"/>
            <a:r>
              <a:rPr lang="en-US" sz="2400" b="1" dirty="0" err="1">
                <a:solidFill>
                  <a:srgbClr val="E81B25"/>
                </a:solidFill>
                <a:latin typeface="Berlin Sans FB Demi" panose="020E0802020502020306" pitchFamily="34" charset="0"/>
                <a:ea typeface="SamsungOne 800" panose="020B0903030303020204" pitchFamily="34" charset="0"/>
              </a:rPr>
              <a:t>Jalihal</a:t>
            </a:r>
            <a:r>
              <a:rPr lang="en-US" sz="2400" b="1" dirty="0">
                <a:solidFill>
                  <a:srgbClr val="E81B25"/>
                </a:solidFill>
                <a:latin typeface="Berlin Sans FB Demi" panose="020E0802020502020306" pitchFamily="34" charset="0"/>
                <a:ea typeface="SamsungOne 800" panose="020B0903030303020204" pitchFamily="34" charset="0"/>
              </a:rPr>
              <a:t> Abhay</a:t>
            </a:r>
          </a:p>
          <a:p>
            <a:pPr algn="ct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4801314"/>
          </a:xfrm>
          <a:prstGeom prst="rect">
            <a:avLst/>
          </a:prstGeom>
          <a:noFill/>
        </p:spPr>
        <p:txBody>
          <a:bodyPr wrap="square" rtlCol="0">
            <a:spAutoFit/>
          </a:bodyPr>
          <a:lstStyle/>
          <a:p>
            <a:r>
              <a:rPr lang="en-US" b="1" dirty="0"/>
              <a:t>Why we selected this theme:</a:t>
            </a:r>
            <a:r>
              <a:rPr lang="en-US" dirty="0"/>
              <a:t> As AI and Cybersecurity engineering students, we recognize that the rapid advancement of GenAI video synthesis is outpacing digital trust. We selected this theme to research how to safely deploy powerful generative models without enabling malicious actors.</a:t>
            </a:r>
          </a:p>
          <a:p>
            <a:r>
              <a:rPr lang="en-US" b="1" dirty="0"/>
              <a:t>What problem are we solving:</a:t>
            </a:r>
            <a:r>
              <a:rPr lang="en-US" dirty="0"/>
              <a:t> The uncontrolled generation of deepfake videos leading to misinformation, identity theft, and non-consensual media.</a:t>
            </a:r>
          </a:p>
          <a:p>
            <a:r>
              <a:rPr lang="en-US" b="1" dirty="0"/>
              <a:t>Who Faces it (Persona):</a:t>
            </a:r>
            <a:r>
              <a:rPr lang="en-US" dirty="0"/>
              <a:t> * </a:t>
            </a:r>
            <a:r>
              <a:rPr lang="en-US" i="1" dirty="0"/>
              <a:t>Victims:</a:t>
            </a:r>
            <a:r>
              <a:rPr lang="en-US" dirty="0"/>
              <a:t> Public figures and private citizens facing identity manipulation.</a:t>
            </a:r>
          </a:p>
          <a:p>
            <a:r>
              <a:rPr lang="en-US" i="1" dirty="0"/>
              <a:t>Users:</a:t>
            </a:r>
            <a:r>
              <a:rPr lang="en-US" dirty="0"/>
              <a:t> Legitimate content creators, educators, and ad agencies who want to use AI likenesses legally but lack a secure framework.</a:t>
            </a:r>
          </a:p>
          <a:p>
            <a:r>
              <a:rPr lang="en-US" b="1" dirty="0"/>
              <a:t>Why is it important:</a:t>
            </a:r>
            <a:r>
              <a:rPr lang="en-US" dirty="0"/>
              <a:t> If we cannot verify the ethical origin of synthetic media </a:t>
            </a:r>
            <a:r>
              <a:rPr lang="en-US" i="1" dirty="0"/>
              <a:t>at the point of creation</a:t>
            </a:r>
            <a:r>
              <a:rPr lang="en-US" dirty="0"/>
              <a:t>, public trust in digital video will collapse completely.</a:t>
            </a:r>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3416320"/>
          </a:xfrm>
          <a:prstGeom prst="rect">
            <a:avLst/>
          </a:prstGeom>
          <a:noFill/>
        </p:spPr>
        <p:txBody>
          <a:bodyPr wrap="square" rtlCol="0">
            <a:spAutoFit/>
          </a:bodyPr>
          <a:lstStyle/>
          <a:p>
            <a:r>
              <a:rPr lang="en-US" b="1" dirty="0"/>
              <a:t>Existing Solutions:</a:t>
            </a:r>
            <a:r>
              <a:rPr lang="en-US" dirty="0"/>
              <a:t> The industry relies heavily on Deepfake </a:t>
            </a:r>
            <a:r>
              <a:rPr lang="en-US" i="1" dirty="0"/>
              <a:t>Detectors</a:t>
            </a:r>
            <a:r>
              <a:rPr lang="en-US" dirty="0"/>
              <a:t> (e.g., analyzing artifacts, blinking patterns, or utilizing standard metadata tags).</a:t>
            </a:r>
          </a:p>
          <a:p>
            <a:r>
              <a:rPr lang="en-US" b="1" dirty="0"/>
              <a:t>What’s missing/broken:</a:t>
            </a:r>
            <a:r>
              <a:rPr lang="en-US" dirty="0"/>
              <a:t> * </a:t>
            </a:r>
            <a:r>
              <a:rPr lang="en-US" i="1" dirty="0"/>
              <a:t>The Cat &amp; Mouse Game:</a:t>
            </a:r>
            <a:r>
              <a:rPr lang="en-US" dirty="0"/>
              <a:t> Detectors are fundamentally </a:t>
            </a:r>
            <a:r>
              <a:rPr lang="en-US" i="1" dirty="0"/>
              <a:t>reactive</a:t>
            </a:r>
            <a:r>
              <a:rPr lang="en-US" dirty="0"/>
              <a:t>. Generative models continuously evolve to beat them.</a:t>
            </a:r>
          </a:p>
          <a:p>
            <a:r>
              <a:rPr lang="en-US" i="1" dirty="0"/>
              <a:t>No Consent Verification:</a:t>
            </a:r>
            <a:r>
              <a:rPr lang="en-US" dirty="0"/>
              <a:t> Current open-source models (like Stable Video Diffusion) generate content with zero built-in constraints or identity checks.</a:t>
            </a:r>
          </a:p>
          <a:p>
            <a:r>
              <a:rPr lang="en-US" b="1" dirty="0"/>
              <a:t>Opportunity:</a:t>
            </a:r>
            <a:r>
              <a:rPr lang="en-US" dirty="0"/>
              <a:t> Shift the paradigm from post-generation </a:t>
            </a:r>
            <a:r>
              <a:rPr lang="en-US" i="1" dirty="0"/>
              <a:t>detection</a:t>
            </a:r>
            <a:r>
              <a:rPr lang="en-US" dirty="0"/>
              <a:t> to pre-generation </a:t>
            </a:r>
            <a:r>
              <a:rPr lang="en-US" i="1" dirty="0"/>
              <a:t>prevention</a:t>
            </a:r>
            <a:r>
              <a:rPr lang="en-US" dirty="0"/>
              <a:t> using cryptographic guardrails.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Your Solutions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5078313"/>
          </a:xfrm>
          <a:prstGeom prst="rect">
            <a:avLst/>
          </a:prstGeom>
          <a:noFill/>
        </p:spPr>
        <p:txBody>
          <a:bodyPr wrap="square" rtlCol="0">
            <a:spAutoFit/>
          </a:bodyPr>
          <a:lstStyle/>
          <a:p>
            <a:r>
              <a:rPr lang="en-US" b="1" dirty="0"/>
              <a:t>What we built:</a:t>
            </a:r>
            <a:r>
              <a:rPr lang="en-US" dirty="0"/>
              <a:t> </a:t>
            </a:r>
            <a:r>
              <a:rPr lang="en-US" b="1" dirty="0" err="1"/>
              <a:t>EthiCast</a:t>
            </a:r>
            <a:r>
              <a:rPr lang="en-US" dirty="0"/>
              <a:t> – A production-grade, ethical deepfake generation framework that forces deterministic consent and safety audits before rendering a single frame.</a:t>
            </a:r>
          </a:p>
          <a:p>
            <a:r>
              <a:rPr lang="en-US" b="1" dirty="0"/>
              <a:t>Core Ideas Explanation:</a:t>
            </a:r>
            <a:r>
              <a:rPr lang="en-US" dirty="0"/>
              <a:t> We treat GenAI video generation as a secure transaction. Just as a bank verifies identity before a transfer, </a:t>
            </a:r>
            <a:r>
              <a:rPr lang="en-US" dirty="0" err="1"/>
              <a:t>EthiCast</a:t>
            </a:r>
            <a:r>
              <a:rPr lang="en-US" dirty="0"/>
              <a:t> verifies intent and consent before computation.</a:t>
            </a:r>
          </a:p>
          <a:p>
            <a:r>
              <a:rPr lang="en-US" b="1" dirty="0"/>
              <a:t>Key Features:</a:t>
            </a:r>
            <a:endParaRPr lang="en-US" dirty="0"/>
          </a:p>
          <a:p>
            <a:pPr lvl="1"/>
            <a:r>
              <a:rPr lang="en-US" b="1" dirty="0"/>
              <a:t>Agentic Guardrails:</a:t>
            </a:r>
            <a:r>
              <a:rPr lang="en-US" dirty="0"/>
              <a:t> Real-time LLM safety analysis prevents unethical prompt vectors from entering the pipeline.</a:t>
            </a:r>
          </a:p>
          <a:p>
            <a:pPr lvl="1"/>
            <a:r>
              <a:rPr lang="en-US" b="1" dirty="0"/>
              <a:t>Deterministic Consent:</a:t>
            </a:r>
            <a:r>
              <a:rPr lang="en-US" dirty="0"/>
              <a:t> Requires an ID-linked cryptographic token to authorize the use of a specific person's likeness.</a:t>
            </a:r>
          </a:p>
          <a:p>
            <a:pPr lvl="1"/>
            <a:r>
              <a:rPr lang="en-US" b="1" dirty="0"/>
              <a:t>DCT Watermarking:</a:t>
            </a:r>
            <a:r>
              <a:rPr lang="en-US" dirty="0"/>
              <a:t> Embeds invisible frequency-domain artifacts directly into the pixel stream of the final output.</a:t>
            </a:r>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4524315"/>
          </a:xfrm>
          <a:prstGeom prst="rect">
            <a:avLst/>
          </a:prstGeom>
          <a:noFill/>
        </p:spPr>
        <p:txBody>
          <a:bodyPr wrap="square" rtlCol="0">
            <a:spAutoFit/>
          </a:bodyPr>
          <a:lstStyle/>
          <a:p>
            <a:r>
              <a:rPr lang="en-US" b="1" dirty="0"/>
              <a:t>Screen/Flow - How User Interacts:</a:t>
            </a:r>
            <a:endParaRPr lang="en-US" dirty="0"/>
          </a:p>
          <a:p>
            <a:r>
              <a:rPr lang="en-US" b="1" dirty="0"/>
              <a:t>Step 1 (Governance):</a:t>
            </a:r>
            <a:r>
              <a:rPr lang="en-US" dirty="0"/>
              <a:t> Admin sets the "Safety Strictness" parameter via the custom-built Rule Builder UI.</a:t>
            </a:r>
          </a:p>
          <a:p>
            <a:r>
              <a:rPr lang="en-US" b="1" dirty="0"/>
              <a:t>Step 2 (Input):</a:t>
            </a:r>
            <a:r>
              <a:rPr lang="en-US" dirty="0"/>
              <a:t> User inputs a Prompt Vector and uploads their Digital Consent Token.</a:t>
            </a:r>
          </a:p>
          <a:p>
            <a:r>
              <a:rPr lang="en-US" b="1" dirty="0"/>
              <a:t>Step 3 (The Pipeline):</a:t>
            </a:r>
            <a:r>
              <a:rPr lang="en-US" dirty="0"/>
              <a:t> The interactive UI visualizer tracks real-time progress: </a:t>
            </a:r>
            <a:r>
              <a:rPr lang="en-US" i="1" dirty="0"/>
              <a:t>Safety Audit ➔ Consent Verification ➔ AI Generation ➔ Watermarking</a:t>
            </a:r>
            <a:r>
              <a:rPr lang="en-US" dirty="0"/>
              <a:t>.</a:t>
            </a:r>
          </a:p>
          <a:p>
            <a:r>
              <a:rPr lang="en-US" b="1" dirty="0"/>
              <a:t>Key Moments:</a:t>
            </a:r>
            <a:endParaRPr lang="en-US" dirty="0"/>
          </a:p>
          <a:p>
            <a:r>
              <a:rPr lang="en-US" i="1" dirty="0"/>
              <a:t>The Block:</a:t>
            </a:r>
            <a:r>
              <a:rPr lang="en-US" dirty="0"/>
              <a:t> Attempting to generate a malicious prompt (e.g., hateful political deepfake) instantly triggers a red "Ethical Policy Violation," halting computation.</a:t>
            </a:r>
          </a:p>
          <a:p>
            <a:r>
              <a:rPr lang="en-US" i="1" dirty="0"/>
              <a:t>The Success:</a:t>
            </a:r>
            <a:r>
              <a:rPr lang="en-US" dirty="0"/>
              <a:t> Submitting a valid, educational prompt with a verified token successfully synthesizes the media and outputs the tamper-proof video directly to the Synthesis Terminal.</a:t>
            </a:r>
          </a:p>
        </p:txBody>
      </p:sp>
    </p:spTree>
    <p:extLst>
      <p:ext uri="{BB962C8B-B14F-4D97-AF65-F5344CB8AC3E}">
        <p14:creationId xmlns:p14="http://schemas.microsoft.com/office/powerpoint/2010/main" val="45296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3693319"/>
          </a:xfrm>
          <a:prstGeom prst="rect">
            <a:avLst/>
          </a:prstGeom>
          <a:noFill/>
        </p:spPr>
        <p:txBody>
          <a:bodyPr wrap="square" rtlCol="0">
            <a:spAutoFit/>
          </a:bodyPr>
          <a:lstStyle/>
          <a:p>
            <a:r>
              <a:rPr lang="en-IN" b="1" dirty="0"/>
              <a:t>Frontend (UI/UX):</a:t>
            </a:r>
            <a:r>
              <a:rPr lang="en-IN" dirty="0"/>
              <a:t> React.js with advanced </a:t>
            </a:r>
            <a:r>
              <a:rPr lang="en-IN" dirty="0" err="1"/>
              <a:t>Glassmorphism</a:t>
            </a:r>
            <a:r>
              <a:rPr lang="en-IN" dirty="0"/>
              <a:t> CSS, custom hooks for asynchronous polling, and </a:t>
            </a:r>
            <a:r>
              <a:rPr lang="en-IN" dirty="0" err="1"/>
              <a:t>Lucide</a:t>
            </a:r>
            <a:r>
              <a:rPr lang="en-IN" dirty="0"/>
              <a:t>-React icons for the command-</a:t>
            </a:r>
            <a:r>
              <a:rPr lang="en-IN" dirty="0" err="1"/>
              <a:t>center</a:t>
            </a:r>
            <a:r>
              <a:rPr lang="en-IN" dirty="0"/>
              <a:t> interface.</a:t>
            </a:r>
          </a:p>
          <a:p>
            <a:r>
              <a:rPr lang="en-IN" b="1" dirty="0"/>
              <a:t>Backend Orchestration:</a:t>
            </a:r>
            <a:r>
              <a:rPr lang="en-IN" dirty="0"/>
              <a:t> Node.js &amp; Express.js handling child process execution and API routing.</a:t>
            </a:r>
          </a:p>
          <a:p>
            <a:r>
              <a:rPr lang="en-IN" b="1" dirty="0"/>
              <a:t>AI Usage &amp; Frameworks:</a:t>
            </a:r>
            <a:r>
              <a:rPr lang="en-IN" dirty="0"/>
              <a:t> * </a:t>
            </a:r>
            <a:r>
              <a:rPr lang="en-IN" i="1" dirty="0"/>
              <a:t>Safety Agent:</a:t>
            </a:r>
            <a:r>
              <a:rPr lang="en-IN" dirty="0"/>
              <a:t> </a:t>
            </a:r>
            <a:r>
              <a:rPr lang="en-IN" dirty="0" err="1"/>
              <a:t>LangChain</a:t>
            </a:r>
            <a:r>
              <a:rPr lang="en-IN" dirty="0"/>
              <a:t> combined with an SLM (Small Language Model) pipeline.</a:t>
            </a:r>
          </a:p>
          <a:p>
            <a:r>
              <a:rPr lang="en-IN" i="1" dirty="0"/>
              <a:t>Media Engine:</a:t>
            </a:r>
            <a:r>
              <a:rPr lang="en-IN" dirty="0"/>
              <a:t> Python integration using OpenCV and SciPy for imperceptible DCT (Discrete Cosine Transform) watermarking.</a:t>
            </a:r>
          </a:p>
          <a:p>
            <a:r>
              <a:rPr lang="en-IN" b="1" dirty="0"/>
              <a:t>Database:</a:t>
            </a:r>
            <a:r>
              <a:rPr lang="en-IN" dirty="0"/>
              <a:t> MongoDB schemas for immutable audit logging of all prompt hashes and generation attempts.</a:t>
            </a:r>
          </a:p>
          <a:p>
            <a:endParaRPr lang="en-IN" dirty="0"/>
          </a:p>
        </p:txBody>
      </p:sp>
    </p:spTree>
    <p:extLst>
      <p:ext uri="{BB962C8B-B14F-4D97-AF65-F5344CB8AC3E}">
        <p14:creationId xmlns:p14="http://schemas.microsoft.com/office/powerpoint/2010/main" val="5667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7" name="TextBox 6">
            <a:extLst>
              <a:ext uri="{FF2B5EF4-FFF2-40B4-BE49-F238E27FC236}">
                <a16:creationId xmlns:a16="http://schemas.microsoft.com/office/drawing/2014/main" id="{9DA4A853-6F3B-8992-97B7-E907053C1464}"/>
              </a:ext>
            </a:extLst>
          </p:cNvPr>
          <p:cNvSpPr txBox="1"/>
          <p:nvPr/>
        </p:nvSpPr>
        <p:spPr>
          <a:xfrm>
            <a:off x="609600" y="1633728"/>
            <a:ext cx="6172200" cy="3416320"/>
          </a:xfrm>
          <a:prstGeom prst="rect">
            <a:avLst/>
          </a:prstGeom>
          <a:noFill/>
        </p:spPr>
        <p:txBody>
          <a:bodyPr wrap="square">
            <a:spAutoFit/>
          </a:bodyPr>
          <a:lstStyle/>
          <a:p>
            <a:pPr>
              <a:buNone/>
            </a:pPr>
            <a:r>
              <a:rPr lang="en-US" b="1" dirty="0"/>
              <a:t>Real-life scenarios:</a:t>
            </a:r>
            <a:endParaRPr lang="en-US" dirty="0"/>
          </a:p>
          <a:p>
            <a:pPr>
              <a:buFont typeface="+mj-lt"/>
              <a:buAutoNum type="arabicPeriod"/>
            </a:pPr>
            <a:r>
              <a:rPr lang="en-US" b="1" dirty="0"/>
              <a:t>Educational Content:</a:t>
            </a:r>
            <a:r>
              <a:rPr lang="en-US" dirty="0"/>
              <a:t> Safely generating a cinematic historical documentary using an actor's likeness with their explicit, tokenized permission.</a:t>
            </a:r>
          </a:p>
          <a:p>
            <a:pPr>
              <a:buFont typeface="+mj-lt"/>
              <a:buAutoNum type="arabicPeriod"/>
            </a:pPr>
            <a:r>
              <a:rPr lang="en-US" b="1" dirty="0"/>
              <a:t>Corporate Communications:</a:t>
            </a:r>
            <a:r>
              <a:rPr lang="en-US" dirty="0"/>
              <a:t> Global CEOs recording one video and legally </a:t>
            </a:r>
            <a:r>
              <a:rPr lang="en-US" dirty="0" err="1"/>
              <a:t>deepfaking</a:t>
            </a:r>
            <a:r>
              <a:rPr lang="en-US" dirty="0"/>
              <a:t> their own voice and lip-sync into 20 different languages for regional offices.</a:t>
            </a:r>
          </a:p>
          <a:p>
            <a:pPr>
              <a:buFont typeface="+mj-lt"/>
              <a:buAutoNum type="arabicPeriod"/>
            </a:pPr>
            <a:r>
              <a:rPr lang="en-US" b="1" dirty="0"/>
              <a:t>Secure Marketing:</a:t>
            </a:r>
            <a:r>
              <a:rPr lang="en-US" dirty="0"/>
              <a:t> Ad agencies using verified AI actors without fear of copyright or ethical backlash.</a:t>
            </a:r>
          </a:p>
          <a:p>
            <a:pPr>
              <a:buNone/>
            </a:pPr>
            <a:r>
              <a:rPr lang="en-US" b="1" dirty="0"/>
              <a:t>Scale Potential:</a:t>
            </a:r>
            <a:r>
              <a:rPr lang="en-US" dirty="0"/>
              <a:t> </a:t>
            </a:r>
            <a:r>
              <a:rPr lang="en-US" dirty="0" err="1"/>
              <a:t>EthiCast’s</a:t>
            </a:r>
            <a:r>
              <a:rPr lang="en-US" dirty="0"/>
              <a:t> modular pipeline can be packaged as a B2B API, allowing enterprise platforms to integrate secure generative features directly into their own applications.</a:t>
            </a:r>
          </a:p>
        </p:txBody>
      </p:sp>
    </p:spTree>
    <p:extLst>
      <p:ext uri="{BB962C8B-B14F-4D97-AF65-F5344CB8AC3E}">
        <p14:creationId xmlns:p14="http://schemas.microsoft.com/office/powerpoint/2010/main" val="2277358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3416320"/>
          </a:xfrm>
          <a:prstGeom prst="rect">
            <a:avLst/>
          </a:prstGeom>
          <a:noFill/>
        </p:spPr>
        <p:txBody>
          <a:bodyPr wrap="square" rtlCol="0">
            <a:spAutoFit/>
          </a:bodyPr>
          <a:lstStyle/>
          <a:p>
            <a:r>
              <a:rPr lang="en-US" b="1" dirty="0"/>
              <a:t>Why your solution stands out:</a:t>
            </a:r>
            <a:r>
              <a:rPr lang="en-US" dirty="0"/>
              <a:t> We aren't just building another wrapper around a generative model; we engineered a proactive security layer </a:t>
            </a:r>
            <a:r>
              <a:rPr lang="en-US" i="1" dirty="0"/>
              <a:t>around</a:t>
            </a:r>
            <a:r>
              <a:rPr lang="en-US" dirty="0"/>
              <a:t> the model.</a:t>
            </a:r>
          </a:p>
          <a:p>
            <a:r>
              <a:rPr lang="en-US" b="1" dirty="0"/>
              <a:t>1-2 Strong MOATs:</a:t>
            </a:r>
            <a:endParaRPr lang="en-US" dirty="0"/>
          </a:p>
          <a:p>
            <a:r>
              <a:rPr lang="en-US" b="1" dirty="0"/>
              <a:t>Computation Savings via Proactive Blocking:</a:t>
            </a:r>
            <a:r>
              <a:rPr lang="en-US" dirty="0"/>
              <a:t> By stopping malicious requests at the SLM Agent stage, we save massive GPU compute costs that would have been wasted rendering unethical videos.</a:t>
            </a:r>
          </a:p>
          <a:p>
            <a:r>
              <a:rPr lang="en-US" b="1" dirty="0"/>
              <a:t>The Consent Token Architecture:</a:t>
            </a:r>
            <a:r>
              <a:rPr lang="en-US" dirty="0"/>
              <a:t> Tying video generation strictly to a verifiable cryptographic document creates an auditable trail of responsibility that open-source models completely lack.</a:t>
            </a:r>
          </a:p>
        </p:txBody>
      </p:sp>
    </p:spTree>
    <p:extLst>
      <p:ext uri="{BB962C8B-B14F-4D97-AF65-F5344CB8AC3E}">
        <p14:creationId xmlns:p14="http://schemas.microsoft.com/office/powerpoint/2010/main" val="1746425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923330"/>
          </a:xfrm>
          <a:prstGeom prst="rect">
            <a:avLst/>
          </a:prstGeom>
          <a:noFill/>
        </p:spPr>
        <p:txBody>
          <a:bodyPr wrap="square" rtlCol="0">
            <a:spAutoFit/>
          </a:bodyPr>
          <a:lstStyle/>
          <a:p>
            <a:r>
              <a:rPr lang="en-IN" dirty="0"/>
              <a:t>Github:</a:t>
            </a:r>
            <a:r>
              <a:rPr lang="en-IN" dirty="0">
                <a:hlinkClick r:id="rId3"/>
              </a:rPr>
              <a:t>SRAVAN2611/</a:t>
            </a:r>
            <a:r>
              <a:rPr lang="en-IN" dirty="0" err="1">
                <a:hlinkClick r:id="rId3"/>
              </a:rPr>
              <a:t>EthiCast</a:t>
            </a:r>
            <a:r>
              <a:rPr lang="en-IN" dirty="0">
                <a:hlinkClick r:id="rId3"/>
              </a:rPr>
              <a:t>-JASR</a:t>
            </a:r>
            <a:endParaRPr lang="en-IN" dirty="0"/>
          </a:p>
          <a:p>
            <a:r>
              <a:rPr lang="en-IN" dirty="0"/>
              <a:t>Video: there in </a:t>
            </a:r>
            <a:r>
              <a:rPr lang="en-IN" dirty="0" err="1"/>
              <a:t>github</a:t>
            </a:r>
            <a:endParaRPr lang="en-IN" dirty="0"/>
          </a:p>
          <a:p>
            <a:r>
              <a:rPr lang="en-IN" dirty="0"/>
              <a:t>Document Submitted</a:t>
            </a:r>
          </a:p>
        </p:txBody>
      </p:sp>
    </p:spTree>
    <p:extLst>
      <p:ext uri="{BB962C8B-B14F-4D97-AF65-F5344CB8AC3E}">
        <p14:creationId xmlns:p14="http://schemas.microsoft.com/office/powerpoint/2010/main" val="1098279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&lt;Brownie Slide&gt;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2308324"/>
          </a:xfrm>
          <a:prstGeom prst="rect">
            <a:avLst/>
          </a:prstGeom>
          <a:noFill/>
        </p:spPr>
        <p:txBody>
          <a:bodyPr wrap="square" rtlCol="0">
            <a:spAutoFit/>
          </a:bodyPr>
          <a:lstStyle/>
          <a:p>
            <a:r>
              <a:rPr lang="en-US" b="1" dirty="0"/>
              <a:t>Title:</a:t>
            </a:r>
            <a:r>
              <a:rPr lang="en-US" dirty="0"/>
              <a:t> The Future of Digital Trust</a:t>
            </a:r>
          </a:p>
          <a:p>
            <a:r>
              <a:rPr lang="en-US" b="1" dirty="0"/>
              <a:t>Content:</a:t>
            </a:r>
            <a:r>
              <a:rPr lang="en-US" dirty="0"/>
              <a:t> As AI and Cybersecurity continue to intersect, frameworks like </a:t>
            </a:r>
            <a:r>
              <a:rPr lang="en-US" dirty="0" err="1"/>
              <a:t>EthiCast</a:t>
            </a:r>
            <a:r>
              <a:rPr lang="en-US" dirty="0"/>
              <a:t> will become mandatory compliance standards, similar to GDPR for data privacy. Our team designed this architecture not just to win a hackathon, but to propose a realistic standard for how major tech institutions can securely deploy Generative AI to the public by 2030.</a:t>
            </a:r>
          </a:p>
        </p:txBody>
      </p:sp>
    </p:spTree>
    <p:extLst>
      <p:ext uri="{BB962C8B-B14F-4D97-AF65-F5344CB8AC3E}">
        <p14:creationId xmlns:p14="http://schemas.microsoft.com/office/powerpoint/2010/main" val="2308232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910</Words>
  <Application>Microsoft Office PowerPoint</Application>
  <PresentationFormat>Widescreen</PresentationFormat>
  <Paragraphs>77</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Berlin Sans FB Demi</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Sravan Reddy</cp:lastModifiedBy>
  <cp:revision>5</cp:revision>
  <dcterms:created xsi:type="dcterms:W3CDTF">2026-04-27T09:11:02Z</dcterms:created>
  <dcterms:modified xsi:type="dcterms:W3CDTF">2026-05-08T14:50:28Z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